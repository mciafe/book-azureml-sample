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7"/>
  </ns0:sldIdLst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82880"/>
            <a:ext cx="11548872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A3440"/>
                </a:solidFill>
                <a:latin typeface="Yu Gothic"/>
              </a:rPr>
              <a:t>実装追加により、回答できる問の範囲が拡大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280160" cy="411480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</a:rPr>
              <a:t>ver65</a:t>
            </a:r>
          </a:p>
        </p:txBody>
      </p:sp>
      <p:sp>
        <p:nvSpPr>
          <p:cNvPr id="4" name="Chevron 3"/>
          <p:cNvSpPr/>
          <p:nvPr/>
        </p:nvSpPr>
        <p:spPr>
          <a:xfrm>
            <a:off x="5230368" y="786384"/>
            <a:ext cx="1737360" cy="384048"/>
          </a:xfrm>
          <a:prstGeom prst="chevron">
            <a:avLst/>
          </a:prstGeom>
          <a:solidFill>
            <a:srgbClr val="F28D2B"/>
          </a:solidFill>
          <a:ln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追加実装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777240"/>
            <a:ext cx="1280160" cy="411480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</a:rPr>
              <a:t>ver85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5623560" cy="489204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  <a:latin typeface="Yu Gothic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234440"/>
            <a:ext cx="5623560" cy="489204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  <a:latin typeface="Yu Gothic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回答できる問の範囲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3952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回答できる問の範囲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  <a:latin typeface="Yu Gothic"/>
              </a:rPr>
              <a:t>ユーザの問集合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  <a:latin typeface="Yu Gothic"/>
              </a:rPr>
              <a:t>ユーザの問集合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1993392"/>
            <a:ext cx="1554480" cy="1554480"/>
          </a:xfrm>
          <a:prstGeom prst="ellipse">
            <a:avLst/>
          </a:prstGeom>
          <a:solidFill>
            <a:srgbClr val="2F6DB5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ver65
回答可能</a:t>
            </a:r>
          </a:p>
        </p:txBody>
      </p:sp>
      <p:sp>
        <p:nvSpPr>
          <p:cNvPr id="13" name="Oval 12"/>
          <p:cNvSpPr/>
          <p:nvPr/>
        </p:nvSpPr>
        <p:spPr>
          <a:xfrm>
            <a:off x="6748272" y="1901952"/>
            <a:ext cx="1965960" cy="1828800"/>
          </a:xfrm>
          <a:prstGeom prst="ellipse">
            <a:avLst/>
          </a:prstGeom>
          <a:solidFill>
            <a:srgbClr val="3A9B61"/>
          </a:solidFill>
          <a:ln w="19050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ver85
回答可能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148840"/>
            <a:ext cx="1783080" cy="1005840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追加で
回答可能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412480" y="2651760"/>
            <a:ext cx="365760" cy="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65176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8229600" y="246888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8368" y="1938528"/>
            <a:ext cx="868680" cy="31089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一問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29000"/>
            <a:ext cx="1280160" cy="36576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索引あり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84831" y="1847088"/>
            <a:ext cx="1024128" cy="384048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キーワード
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3346704"/>
            <a:ext cx="1572768" cy="438912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索引なし→不明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2011680" cy="40233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分解できる複数問い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7104" y="1847088"/>
            <a:ext cx="868680" cy="31089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一問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429000"/>
            <a:ext cx="1280160" cy="36576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索引あり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18704" y="1828800"/>
            <a:ext cx="1234440" cy="438912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類義語理解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3291840"/>
            <a:ext cx="1481328" cy="475488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補足情報付与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84848" y="3822191"/>
            <a:ext cx="2057400" cy="40233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ver65の範囲も継承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46120" y="1993392"/>
            <a:ext cx="173736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類義語理解が必要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54680" y="2505456"/>
            <a:ext cx="196596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補足情報付与が必要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90672"/>
            <a:ext cx="201168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分類・分解が困難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08592" y="1810512"/>
            <a:ext cx="17830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ユースケース実現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53728" y="2331720"/>
            <a:ext cx="160020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不具合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2852928"/>
            <a:ext cx="20116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入力可能性が低い問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62288" y="3364992"/>
            <a:ext cx="192024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事前知識が必要な
複数問い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164592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実装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3952" y="4297680"/>
            <a:ext cx="205740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追加した実装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前処理</a:t>
            </a:r>
          </a:p>
        </p:txBody>
      </p:sp>
      <p:sp>
        <p:nvSpPr>
          <p:cNvPr id="38" name="Chevron 37"/>
          <p:cNvSpPr/>
          <p:nvPr/>
        </p:nvSpPr>
        <p:spPr>
          <a:xfrm>
            <a:off x="1773936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83664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RAG検索</a:t>
            </a:r>
          </a:p>
        </p:txBody>
      </p:sp>
      <p:sp>
        <p:nvSpPr>
          <p:cNvPr id="40" name="Chevron 39"/>
          <p:cNvSpPr/>
          <p:nvPr/>
        </p:nvSpPr>
        <p:spPr>
          <a:xfrm>
            <a:off x="2999232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08960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回答生成</a:t>
            </a:r>
          </a:p>
        </p:txBody>
      </p:sp>
      <p:sp>
        <p:nvSpPr>
          <p:cNvPr id="42" name="Chevron 41"/>
          <p:cNvSpPr/>
          <p:nvPr/>
        </p:nvSpPr>
        <p:spPr>
          <a:xfrm>
            <a:off x="4224528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6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FAQ出力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5392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前処理</a:t>
            </a:r>
          </a:p>
        </p:txBody>
      </p:sp>
      <p:sp>
        <p:nvSpPr>
          <p:cNvPr id="45" name="Chevron 44"/>
          <p:cNvSpPr/>
          <p:nvPr/>
        </p:nvSpPr>
        <p:spPr>
          <a:xfrm>
            <a:off x="7680960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90688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RAG検索</a:t>
            </a:r>
          </a:p>
        </p:txBody>
      </p:sp>
      <p:sp>
        <p:nvSpPr>
          <p:cNvPr id="47" name="Chevron 46"/>
          <p:cNvSpPr/>
          <p:nvPr/>
        </p:nvSpPr>
        <p:spPr>
          <a:xfrm>
            <a:off x="8906256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15984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回答生成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10131552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41280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FAQ出力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65392" y="4526280"/>
            <a:ext cx="105156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正規化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5411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会話変数定義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1715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レコメンド生成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86600" y="4910328"/>
            <a:ext cx="27432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863840" y="4910328"/>
            <a:ext cx="54864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646920" y="4910328"/>
            <a:ext cx="22860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4400" y="6080760"/>
            <a:ext cx="10332720" cy="41148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08A96"/>
                </a:solidFill>
                <a:latin typeface="Yu Gothic"/>
              </a:rPr>
              <a:t>未対応の領域：ユースケース実現 / 不具合 / 想定外入力 / 分類・分解が難しい複数問い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